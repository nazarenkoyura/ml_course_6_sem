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Montserrat Bold" panose="00000800000000000000" pitchFamily="2" charset="-52"/>
      <p:bold r:id="rId16"/>
    </p:embeddedFont>
    <p:embeddedFont>
      <p:font typeface="Montserrat Light" panose="00000400000000000000" pitchFamily="2" charset="-52"/>
      <p:regular r:id="rId17"/>
      <p:italic r:id="rId18"/>
    </p:embeddedFont>
    <p:embeddedFont>
      <p:font typeface="Source Sans 3" panose="020B0604020202020204" charset="0"/>
      <p:regular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380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120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633917" y="408794"/>
            <a:ext cx="5876166" cy="1330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Прогнозирование намерений онлайн-покупателей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2254374" y="1451151"/>
            <a:ext cx="4635252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Разработка ML-модуля предиктивного скоринга сессий в реальном времени</a:t>
            </a:r>
            <a:endParaRPr lang="en-US" sz="12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F9EE84A-363B-42C7-9352-ED16A1E5B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40" y="4743408"/>
            <a:ext cx="1524160" cy="4000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46504" y="4100630"/>
            <a:ext cx="38100" cy="812453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6" name="Text 3"/>
          <p:cNvSpPr/>
          <p:nvPr/>
        </p:nvSpPr>
        <p:spPr>
          <a:xfrm>
            <a:off x="457914" y="4119680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Студент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914" y="4433314"/>
            <a:ext cx="2165906" cy="312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Назаренко Ю.К., группа ИУ6-64Б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94658" y="4100630"/>
            <a:ext cx="38100" cy="812453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9" name="Text 6"/>
          <p:cNvSpPr/>
          <p:nvPr/>
        </p:nvSpPr>
        <p:spPr>
          <a:xfrm>
            <a:off x="3806069" y="4119680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Руководитель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806069" y="4431326"/>
            <a:ext cx="1062553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Скворцова М.А.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529952" y="4102618"/>
            <a:ext cx="45719" cy="810465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2" name="Text 9"/>
          <p:cNvSpPr/>
          <p:nvPr/>
        </p:nvSpPr>
        <p:spPr>
          <a:xfrm>
            <a:off x="6741363" y="4121668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Организация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741363" y="4433314"/>
            <a:ext cx="1990725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МГТУ им. Н.Э. Баумана, 2026 г.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39874" y="537493"/>
            <a:ext cx="4635252" cy="74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Проблематика и цель работы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445516" y="1408740"/>
            <a:ext cx="8252968" cy="699179"/>
          </a:xfrm>
          <a:prstGeom prst="roundRect">
            <a:avLst>
              <a:gd name="adj" fmla="val 838"/>
            </a:avLst>
          </a:prstGeom>
          <a:solidFill>
            <a:srgbClr val="2D2E34"/>
          </a:solidFill>
          <a:ln/>
        </p:spPr>
      </p:sp>
      <p:sp>
        <p:nvSpPr>
          <p:cNvPr id="5" name="Text 2"/>
          <p:cNvSpPr/>
          <p:nvPr/>
        </p:nvSpPr>
        <p:spPr>
          <a:xfrm>
            <a:off x="576635" y="1561058"/>
            <a:ext cx="1490067" cy="186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Проблема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76635" y="1858640"/>
            <a:ext cx="8121849" cy="249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Традиционная аналитика </a:t>
            </a:r>
            <a:r>
              <a:rPr lang="en-US" sz="10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реактивна</a:t>
            </a: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она фиксирует отказ пользователя уже постфактум, когда бюджет потрачен, а клиент потерян.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76635" y="2868290"/>
            <a:ext cx="2084189" cy="36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Следствие: рост CAC, потери рекламных бюджетов, слабый UX.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811164" y="2570708"/>
            <a:ext cx="1490067" cy="186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Цель работы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811164" y="2868290"/>
            <a:ext cx="2157710" cy="90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Разработать программный модуль </a:t>
            </a:r>
            <a:r>
              <a:rPr lang="en-US" sz="10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предиктивного скоринга сессий</a:t>
            </a: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в реальном времени, позволяющий проактивно реагировать на поведение пользователя.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175126" y="2525738"/>
            <a:ext cx="1490067" cy="186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Задачи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175126" y="2823320"/>
            <a:ext cx="2157710" cy="139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Разведочный анализ и предобработка данных</a:t>
            </a:r>
            <a:endParaRPr lang="en-US" sz="100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Построение полного ML-конвейера</a:t>
            </a:r>
            <a:endParaRPr lang="en-US" sz="100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Компенсация дисбаланса классов</a:t>
            </a:r>
            <a:endParaRPr lang="en-US" sz="100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Интерпретация модели (SHAP)</a:t>
            </a:r>
            <a:endParaRPr lang="en-US" sz="10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470F21D-1786-423B-B799-B472EAA1A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40" y="4743408"/>
            <a:ext cx="1524160" cy="4000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226012"/>
            <a:ext cx="2745432" cy="284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Обзор набора данных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1000795" y="691249"/>
            <a:ext cx="1711970" cy="330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12 330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38920" y="1120990"/>
            <a:ext cx="1235720" cy="142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Уникальных сессий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9874" y="1302412"/>
            <a:ext cx="2633811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 обучающей выборке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716015" y="691249"/>
            <a:ext cx="1711970" cy="330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002286" y="1120990"/>
            <a:ext cx="1139428" cy="142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Признаков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55094" y="1302412"/>
            <a:ext cx="2633811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числовые и категориальные метрики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31235" y="691249"/>
            <a:ext cx="1711970" cy="330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15.4%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717506" y="1120990"/>
            <a:ext cx="1139428" cy="142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Конверсия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70314" y="1299806"/>
            <a:ext cx="2633811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доля положительного класса Revenue=1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54574" y="4815979"/>
            <a:ext cx="2846369" cy="102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79440" y="3912136"/>
            <a:ext cx="1206178" cy="142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Дисбаланс классов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79440" y="4119603"/>
            <a:ext cx="3909864" cy="372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Положительный класс составляет только </a:t>
            </a:r>
            <a:r>
              <a:rPr lang="en-US" sz="7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15.4%</a:t>
            </a: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то есть соотношение примерно </a:t>
            </a:r>
            <a:r>
              <a:rPr lang="en-US" sz="7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1:6</a:t>
            </a: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Это важно, потому что модель может смещаться в сторону большинства и показывать высокую accuracy, но плохо находить покупки.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738591" y="3912136"/>
            <a:ext cx="1453455" cy="142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Ключевые предикторы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38591" y="4119603"/>
            <a:ext cx="3909864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PageValues</a:t>
            </a: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наиболее сильный сигнал готовности к покупке</a:t>
            </a:r>
            <a:endParaRPr lang="en-US" sz="75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BounceRates</a:t>
            </a: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рост значения связан с отказом и низкой вовлечённостью</a:t>
            </a:r>
            <a:endParaRPr lang="en-US" sz="75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ProductRelated_Duration</a:t>
            </a: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отражает интерес к товару и вероятность конверсии</a:t>
            </a:r>
            <a:endParaRPr lang="en-US" sz="750" dirty="0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626FD1E7-F66B-4C46-84A8-CF9A5988D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41" y="1899013"/>
            <a:ext cx="4370358" cy="1421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90011F1-CE66-47CA-84C4-FD388EC4C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344" y="1591989"/>
            <a:ext cx="2878357" cy="2035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6BB237D4-EECC-4AB4-A208-937502BA2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840" y="4743408"/>
            <a:ext cx="1524160" cy="4000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248667"/>
            <a:ext cx="4506292" cy="372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Архитектура ML-конвейера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539874" y="4349229"/>
            <a:ext cx="8064252" cy="545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Конвейер построен по модульному принципу: числовые признаки стандартизированы (длительность сессий варьировалась до 60 000), разбиение стратифицировано для сохранения баланса классов. Протестированы 4 класса моделей — от базовой регрессии до нейросети с EarlyStopping.</a:t>
            </a:r>
            <a:endParaRPr lang="en-US" sz="1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54E9F90-8F4E-4040-82A7-10261ADBC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6497" y="674878"/>
            <a:ext cx="4831006" cy="362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398FC93-0D22-4A50-909C-A637A5FDD3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40" y="4743408"/>
            <a:ext cx="1524160" cy="4000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56" y="412700"/>
            <a:ext cx="6825109" cy="382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Решение проблемы дисбаланса классов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56" y="1102519"/>
            <a:ext cx="3496345" cy="349634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289" y="1102518"/>
            <a:ext cx="3496345" cy="349634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40846" y="1797323"/>
            <a:ext cx="158472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Почему не SMOTE?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740846" y="2105546"/>
            <a:ext cx="3884861" cy="566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Искусственная генерация синтетических данных часто приводит к переобучению на синтетических паттернах. Алгоритмическое взвешивание работает с реальным распределением.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4740846" y="2901628"/>
            <a:ext cx="3884861" cy="890067"/>
          </a:xfrm>
          <a:prstGeom prst="roundRect">
            <a:avLst>
              <a:gd name="adj" fmla="val 2267"/>
            </a:avLst>
          </a:prstGeom>
          <a:solidFill>
            <a:srgbClr val="B6D6FC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5312" y="3085281"/>
            <a:ext cx="168101" cy="13446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177879" y="3052390"/>
            <a:ext cx="3313361" cy="566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Ключевой баланс в e-commerce: </a:t>
            </a:r>
            <a:r>
              <a:rPr lang="en-US" sz="10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не упустить покупателя</a:t>
            </a:r>
            <a:r>
              <a:rPr lang="en-US" sz="10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(Recall) и </a:t>
            </a:r>
            <a:r>
              <a:rPr lang="en-US" sz="10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не раздавать скидки всем подряд</a:t>
            </a:r>
            <a:r>
              <a:rPr lang="en-US" sz="10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(Precision).</a:t>
            </a:r>
            <a:endParaRPr lang="en-US" sz="105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CD64109-BB4E-41C3-A0A0-08AC155676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840" y="4743408"/>
            <a:ext cx="1524160" cy="4000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1465" y="494854"/>
            <a:ext cx="7954268" cy="4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Сравнительные результаты тестирования</a:t>
            </a:r>
            <a:endParaRPr lang="en-US" sz="2700" dirty="0"/>
          </a:p>
        </p:txBody>
      </p:sp>
      <p:sp>
        <p:nvSpPr>
          <p:cNvPr id="10" name="Text 5"/>
          <p:cNvSpPr/>
          <p:nvPr/>
        </p:nvSpPr>
        <p:spPr>
          <a:xfrm>
            <a:off x="3828496" y="1672977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0.89</a:t>
            </a:r>
            <a:endParaRPr lang="en-US" sz="400" dirty="0"/>
          </a:p>
        </p:txBody>
      </p:sp>
      <p:sp>
        <p:nvSpPr>
          <p:cNvPr id="11" name="Text 6"/>
          <p:cNvSpPr/>
          <p:nvPr/>
        </p:nvSpPr>
        <p:spPr>
          <a:xfrm>
            <a:off x="3261991" y="1866305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0.71</a:t>
            </a:r>
            <a:endParaRPr lang="en-US" sz="400" dirty="0"/>
          </a:p>
        </p:txBody>
      </p:sp>
      <p:sp>
        <p:nvSpPr>
          <p:cNvPr id="12" name="Text 7"/>
          <p:cNvSpPr/>
          <p:nvPr/>
        </p:nvSpPr>
        <p:spPr>
          <a:xfrm>
            <a:off x="3914521" y="2188518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0.92</a:t>
            </a:r>
            <a:endParaRPr lang="en-US" sz="400" dirty="0"/>
          </a:p>
        </p:txBody>
      </p:sp>
      <p:sp>
        <p:nvSpPr>
          <p:cNvPr id="13" name="Text 8"/>
          <p:cNvSpPr/>
          <p:nvPr/>
        </p:nvSpPr>
        <p:spPr>
          <a:xfrm>
            <a:off x="3403343" y="2381845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0.76</a:t>
            </a:r>
            <a:endParaRPr lang="en-US" sz="400" dirty="0"/>
          </a:p>
        </p:txBody>
      </p:sp>
      <p:sp>
        <p:nvSpPr>
          <p:cNvPr id="14" name="Text 9"/>
          <p:cNvSpPr/>
          <p:nvPr/>
        </p:nvSpPr>
        <p:spPr>
          <a:xfrm>
            <a:off x="3904963" y="2704058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0.92</a:t>
            </a:r>
            <a:endParaRPr lang="en-US" sz="400" dirty="0"/>
          </a:p>
        </p:txBody>
      </p:sp>
      <p:sp>
        <p:nvSpPr>
          <p:cNvPr id="15" name="Text 10"/>
          <p:cNvSpPr/>
          <p:nvPr/>
        </p:nvSpPr>
        <p:spPr>
          <a:xfrm>
            <a:off x="3378449" y="2897386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0.75</a:t>
            </a:r>
            <a:endParaRPr lang="en-US" sz="400" dirty="0"/>
          </a:p>
        </p:txBody>
      </p:sp>
      <p:sp>
        <p:nvSpPr>
          <p:cNvPr id="16" name="Text 11"/>
          <p:cNvSpPr/>
          <p:nvPr/>
        </p:nvSpPr>
        <p:spPr>
          <a:xfrm>
            <a:off x="3933638" y="3219599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0.92</a:t>
            </a:r>
            <a:endParaRPr lang="en-US" sz="400" dirty="0"/>
          </a:p>
        </p:txBody>
      </p:sp>
      <p:sp>
        <p:nvSpPr>
          <p:cNvPr id="17" name="Text 12"/>
          <p:cNvSpPr/>
          <p:nvPr/>
        </p:nvSpPr>
        <p:spPr>
          <a:xfrm>
            <a:off x="3451730" y="3412927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0.77</a:t>
            </a:r>
            <a:endParaRPr lang="en-US" sz="400" dirty="0"/>
          </a:p>
        </p:txBody>
      </p:sp>
      <p:sp>
        <p:nvSpPr>
          <p:cNvPr id="18" name="Text 13"/>
          <p:cNvSpPr/>
          <p:nvPr/>
        </p:nvSpPr>
        <p:spPr>
          <a:xfrm>
            <a:off x="5522059" y="1363112"/>
            <a:ext cx="2186732" cy="21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D2E3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Победитель — XGBoost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5522059" y="1695370"/>
            <a:ext cx="3430943" cy="67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Градиентный бустинг показал наибольшую устойчивость к зашумлённым данным. Нейросеть — близкое качество, но выше требования к калибровке.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31465" y="3813721"/>
            <a:ext cx="1908200" cy="834926"/>
          </a:xfrm>
          <a:prstGeom prst="roundRect">
            <a:avLst>
              <a:gd name="adj" fmla="val 2728"/>
            </a:avLst>
          </a:prstGeom>
          <a:solidFill>
            <a:srgbClr val="F2EEEE"/>
          </a:solidFill>
          <a:ln/>
        </p:spPr>
      </p:sp>
      <p:sp>
        <p:nvSpPr>
          <p:cNvPr id="21" name="Text 16"/>
          <p:cNvSpPr/>
          <p:nvPr/>
        </p:nvSpPr>
        <p:spPr>
          <a:xfrm>
            <a:off x="683270" y="3965525"/>
            <a:ext cx="1604590" cy="21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ROC-AUC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83270" y="4270846"/>
            <a:ext cx="1604590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0.924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2589088" y="3813721"/>
            <a:ext cx="1908200" cy="834926"/>
          </a:xfrm>
          <a:prstGeom prst="roundRect">
            <a:avLst>
              <a:gd name="adj" fmla="val 2728"/>
            </a:avLst>
          </a:prstGeom>
          <a:solidFill>
            <a:srgbClr val="F2EEEE"/>
          </a:solidFill>
          <a:ln/>
        </p:spPr>
      </p:sp>
      <p:sp>
        <p:nvSpPr>
          <p:cNvPr id="24" name="Text 19"/>
          <p:cNvSpPr/>
          <p:nvPr/>
        </p:nvSpPr>
        <p:spPr>
          <a:xfrm>
            <a:off x="2740893" y="3965525"/>
            <a:ext cx="1604590" cy="21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Precision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2740893" y="4270846"/>
            <a:ext cx="1604590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0.835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4646712" y="3813721"/>
            <a:ext cx="1908200" cy="834926"/>
          </a:xfrm>
          <a:prstGeom prst="roundRect">
            <a:avLst>
              <a:gd name="adj" fmla="val 2728"/>
            </a:avLst>
          </a:prstGeom>
          <a:solidFill>
            <a:srgbClr val="F2EEEE"/>
          </a:solidFill>
          <a:ln/>
        </p:spPr>
      </p:sp>
      <p:sp>
        <p:nvSpPr>
          <p:cNvPr id="27" name="Text 22"/>
          <p:cNvSpPr/>
          <p:nvPr/>
        </p:nvSpPr>
        <p:spPr>
          <a:xfrm>
            <a:off x="4798516" y="3965525"/>
            <a:ext cx="1604590" cy="21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Recall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4798516" y="4270846"/>
            <a:ext cx="1604590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0.718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6704335" y="3813721"/>
            <a:ext cx="1908200" cy="834926"/>
          </a:xfrm>
          <a:prstGeom prst="roundRect">
            <a:avLst>
              <a:gd name="adj" fmla="val 2728"/>
            </a:avLst>
          </a:prstGeom>
          <a:solidFill>
            <a:srgbClr val="F2EEEE"/>
          </a:solidFill>
          <a:ln/>
        </p:spPr>
      </p:sp>
      <p:sp>
        <p:nvSpPr>
          <p:cNvPr id="30" name="Text 25"/>
          <p:cNvSpPr/>
          <p:nvPr/>
        </p:nvSpPr>
        <p:spPr>
          <a:xfrm>
            <a:off x="6856140" y="3965525"/>
            <a:ext cx="1604590" cy="21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F1-score</a:t>
            </a:r>
            <a:endParaRPr lang="en-US" sz="1350" dirty="0"/>
          </a:p>
        </p:txBody>
      </p:sp>
      <p:sp>
        <p:nvSpPr>
          <p:cNvPr id="31" name="Text 26"/>
          <p:cNvSpPr/>
          <p:nvPr/>
        </p:nvSpPr>
        <p:spPr>
          <a:xfrm>
            <a:off x="6856140" y="4270846"/>
            <a:ext cx="1604590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0.772</a:t>
            </a:r>
            <a:endParaRPr lang="en-US" sz="115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1902054-E541-4AFD-93D0-AC31C50DD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12" y="1193156"/>
            <a:ext cx="5338762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0B758B52-BF0C-4BB7-BEFF-42E6C5EE8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40" y="4743408"/>
            <a:ext cx="1524160" cy="4000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39874" y="624632"/>
            <a:ext cx="4635252" cy="701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Интерпретация модели — Explainable AI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539874" y="1473845"/>
            <a:ext cx="782464" cy="207243"/>
          </a:xfrm>
          <a:prstGeom prst="roundRect">
            <a:avLst>
              <a:gd name="adj" fmla="val 7146"/>
            </a:avLst>
          </a:prstGeom>
          <a:solidFill>
            <a:srgbClr val="E4E4E7"/>
          </a:solidFill>
          <a:ln/>
        </p:spPr>
      </p:sp>
      <p:sp>
        <p:nvSpPr>
          <p:cNvPr id="5" name="Text 2"/>
          <p:cNvSpPr/>
          <p:nvPr/>
        </p:nvSpPr>
        <p:spPr>
          <a:xfrm>
            <a:off x="613916" y="1510829"/>
            <a:ext cx="634380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SHAP ANALYSIS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539874" y="1792114"/>
            <a:ext cx="4635252" cy="843111"/>
          </a:xfrm>
          <a:prstGeom prst="roundRect">
            <a:avLst>
              <a:gd name="adj" fmla="val 8134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5587" y="1792114"/>
            <a:ext cx="57150" cy="843111"/>
          </a:xfrm>
          <a:prstGeom prst="roundRect">
            <a:avLst>
              <a:gd name="adj" fmla="val 32393"/>
            </a:avLst>
          </a:prstGeom>
          <a:solidFill>
            <a:srgbClr val="2D2E34"/>
          </a:solidFill>
          <a:ln/>
        </p:spPr>
      </p:sp>
      <p:sp>
        <p:nvSpPr>
          <p:cNvPr id="8" name="Text 5"/>
          <p:cNvSpPr/>
          <p:nvPr/>
        </p:nvSpPr>
        <p:spPr>
          <a:xfrm>
            <a:off x="720403" y="1929780"/>
            <a:ext cx="2239268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🟢</a:t>
            </a:r>
            <a:r>
              <a:rPr lang="en-US" sz="1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Главный драйвер покупки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20403" y="2164333"/>
            <a:ext cx="4317057" cy="333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PageValues</a:t>
            </a: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накопленная ценность просмотренных страниц. Высокое значение сигнализирует о сформированном намерении купить.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39874" y="2733898"/>
            <a:ext cx="4635252" cy="843111"/>
          </a:xfrm>
          <a:prstGeom prst="roundRect">
            <a:avLst>
              <a:gd name="adj" fmla="val 8134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587" y="2733898"/>
            <a:ext cx="57150" cy="843111"/>
          </a:xfrm>
          <a:prstGeom prst="roundRect">
            <a:avLst>
              <a:gd name="adj" fmla="val 32393"/>
            </a:avLst>
          </a:prstGeom>
          <a:solidFill>
            <a:srgbClr val="2D2E34"/>
          </a:solidFill>
          <a:ln/>
        </p:spPr>
      </p:sp>
      <p:sp>
        <p:nvSpPr>
          <p:cNvPr id="12" name="Text 9"/>
          <p:cNvSpPr/>
          <p:nvPr/>
        </p:nvSpPr>
        <p:spPr>
          <a:xfrm>
            <a:off x="720403" y="2871564"/>
            <a:ext cx="2270522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🟡</a:t>
            </a:r>
            <a:r>
              <a:rPr lang="en-US" sz="1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Индикатор вовлечённости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20403" y="3106117"/>
            <a:ext cx="4317057" cy="333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ProductRelated_Duration</a:t>
            </a: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длительность просмотра каталога товаров. Чем дольше — тем выше вероятность конверсии.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39874" y="3675683"/>
            <a:ext cx="4635252" cy="843111"/>
          </a:xfrm>
          <a:prstGeom prst="roundRect">
            <a:avLst>
              <a:gd name="adj" fmla="val 8134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5587" y="3675683"/>
            <a:ext cx="57150" cy="843111"/>
          </a:xfrm>
          <a:prstGeom prst="roundRect">
            <a:avLst>
              <a:gd name="adj" fmla="val 32393"/>
            </a:avLst>
          </a:prstGeom>
          <a:solidFill>
            <a:srgbClr val="2D2E34"/>
          </a:solidFill>
          <a:ln/>
        </p:spPr>
      </p:sp>
      <p:sp>
        <p:nvSpPr>
          <p:cNvPr id="16" name="Text 13"/>
          <p:cNvSpPr/>
          <p:nvPr/>
        </p:nvSpPr>
        <p:spPr>
          <a:xfrm>
            <a:off x="720403" y="3813349"/>
            <a:ext cx="1599828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🔴</a:t>
            </a:r>
            <a:r>
              <a:rPr lang="en-US" sz="1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Индикатор оттока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20403" y="4047902"/>
            <a:ext cx="4317057" cy="333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BounceRates</a:t>
            </a: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высокий показатель быстрых выходов. SHAP подтвердил, что модель опирается на физически обоснованные паттерны, а не на шум.</a:t>
            </a:r>
            <a:endParaRPr lang="en-US" sz="950" dirty="0"/>
          </a:p>
        </p:txBody>
      </p:sp>
      <p:pic>
        <p:nvPicPr>
          <p:cNvPr id="4098" name="Рисунок 1">
            <a:extLst>
              <a:ext uri="{FF2B5EF4-FFF2-40B4-BE49-F238E27FC236}">
                <a16:creationId xmlns:a16="http://schemas.microsoft.com/office/drawing/2014/main" id="{A02B2B3F-1FC3-470D-89B5-210D80EF1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6562" y="6350"/>
            <a:ext cx="3897438" cy="513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627236"/>
            <a:ext cx="8064252" cy="876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Практическая значимость — Бизнес-интеграция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39874" y="2133451"/>
            <a:ext cx="1871439" cy="438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Производительность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39874" y="2664246"/>
            <a:ext cx="1871439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Инференс 1 000 сессий менее </a:t>
            </a:r>
            <a:r>
              <a:rPr lang="en-US" sz="12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0.1 сек.</a:t>
            </a: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на CPU — готово к production.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2604120" y="2133451"/>
            <a:ext cx="1871439" cy="438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Динамический скоринг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604120" y="2664246"/>
            <a:ext cx="1871439" cy="1156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Запуск триггерных маркетинговых рассылок и промокодов «на лету» для сомневающихся пользователей.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668366" y="2133451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Оптимизация UX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8366" y="2665938"/>
            <a:ext cx="1871439" cy="925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Локализация барьеров на страницах с аномальными ExitRates и адресное устранение проблем.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6732612" y="2133525"/>
            <a:ext cx="1871514" cy="438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Микросегментация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32612" y="2664245"/>
            <a:ext cx="1871514" cy="1156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Выделение сегмента </a:t>
            </a:r>
            <a:r>
              <a:rPr lang="en-US" sz="12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Returning_Visitor</a:t>
            </a: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для повышения ROI ретаргетинговых кампаний.</a:t>
            </a:r>
            <a:endParaRPr lang="en-US" sz="12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F99CC12-4843-4ED2-B58A-810131E7B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40" y="4743408"/>
            <a:ext cx="1524160" cy="4000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72529"/>
            <a:ext cx="4739655" cy="328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Заключение и векторы развития</a:t>
            </a:r>
            <a:endParaRPr lang="en-US" sz="2050" dirty="0"/>
          </a:p>
        </p:txBody>
      </p:sp>
      <p:sp>
        <p:nvSpPr>
          <p:cNvPr id="3" name="Shape 1"/>
          <p:cNvSpPr/>
          <p:nvPr/>
        </p:nvSpPr>
        <p:spPr>
          <a:xfrm>
            <a:off x="456605" y="931366"/>
            <a:ext cx="4057576" cy="3739604"/>
          </a:xfrm>
          <a:prstGeom prst="roundRect">
            <a:avLst>
              <a:gd name="adj" fmla="val 464"/>
            </a:avLst>
          </a:prstGeom>
          <a:solidFill>
            <a:srgbClr val="2D2E34"/>
          </a:solidFill>
          <a:ln/>
        </p:spPr>
      </p:sp>
      <p:sp>
        <p:nvSpPr>
          <p:cNvPr id="4" name="Text 2"/>
          <p:cNvSpPr/>
          <p:nvPr/>
        </p:nvSpPr>
        <p:spPr>
          <a:xfrm>
            <a:off x="572244" y="1018133"/>
            <a:ext cx="131474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Итоги работы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72244" y="1269206"/>
            <a:ext cx="3826297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Все поставленные задачи выполнены. Полный цикл ML System Design пройден — конвейер готов к продакшн-интеграции.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72244" y="1670372"/>
            <a:ext cx="3826297" cy="555129"/>
          </a:xfrm>
          <a:prstGeom prst="roundRect">
            <a:avLst>
              <a:gd name="adj" fmla="val 3126"/>
            </a:avLst>
          </a:prstGeom>
          <a:solidFill>
            <a:srgbClr val="B6FCB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84" y="1823219"/>
            <a:ext cx="144587" cy="1156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8110" y="1786012"/>
            <a:ext cx="3334792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XGBoost: ROC-AUC 0.924 | F1 0.772 — лучший результат среди всех моделей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717852" y="1018133"/>
            <a:ext cx="131474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Планы развития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717852" y="1279996"/>
            <a:ext cx="231353" cy="144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17852" y="1462236"/>
            <a:ext cx="3891037" cy="14288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2" name="Text 9"/>
          <p:cNvSpPr/>
          <p:nvPr/>
        </p:nvSpPr>
        <p:spPr>
          <a:xfrm>
            <a:off x="4717852" y="1548631"/>
            <a:ext cx="189554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Калибровка вероятностей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717852" y="1799704"/>
            <a:ext cx="3891037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CalibratedClassifierCV для оценки ожидаемой выручки (Expected Revenue)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717852" y="2125042"/>
            <a:ext cx="231353" cy="144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717852" y="2307282"/>
            <a:ext cx="3891037" cy="14288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6" name="Text 13"/>
          <p:cNvSpPr/>
          <p:nvPr/>
        </p:nvSpPr>
        <p:spPr>
          <a:xfrm>
            <a:off x="4717852" y="2393677"/>
            <a:ext cx="187902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REST API + веб-интерфейс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717852" y="2644750"/>
            <a:ext cx="3891037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Развёртывание микросервиса на FastAPI с дашбордом Streamlit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717852" y="2970088"/>
            <a:ext cx="231353" cy="144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717852" y="3152329"/>
            <a:ext cx="3891037" cy="14288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20" name="Text 17"/>
          <p:cNvSpPr/>
          <p:nvPr/>
        </p:nvSpPr>
        <p:spPr>
          <a:xfrm>
            <a:off x="4717852" y="3238723"/>
            <a:ext cx="131474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Customer 360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717852" y="3489796"/>
            <a:ext cx="3891037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Добавление временны́х окон для учёта исторического контекста сессий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717852" y="3815135"/>
            <a:ext cx="231353" cy="144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717852" y="3997375"/>
            <a:ext cx="3891037" cy="14288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24" name="Text 21"/>
          <p:cNvSpPr/>
          <p:nvPr/>
        </p:nvSpPr>
        <p:spPr>
          <a:xfrm>
            <a:off x="4717852" y="4083769"/>
            <a:ext cx="131474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A/B-тестирование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717852" y="4334842"/>
            <a:ext cx="3891037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Валидация модели в условиях реального трафика</a:t>
            </a:r>
            <a:endParaRPr lang="en-US" sz="900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042BBD97-5449-4C52-BEFE-D1BAF11354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40" y="4743408"/>
            <a:ext cx="1524160" cy="4000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907</TotalTime>
  <Words>555</Words>
  <Application>Microsoft Office PowerPoint</Application>
  <PresentationFormat>Экран (16:9)</PresentationFormat>
  <Paragraphs>103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Calibri</vt:lpstr>
      <vt:lpstr>-apple-system, BlinkMacSystemFont, Segoe UI, Roboto, Helvetica Neue, Arial, sans-serif Medium</vt:lpstr>
      <vt:lpstr>Source Sans 3</vt:lpstr>
      <vt:lpstr>Montserrat Light</vt:lpstr>
      <vt:lpstr>Arial</vt:lpstr>
      <vt:lpstr>Montserrat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Юрий Назаренко</cp:lastModifiedBy>
  <cp:revision>12</cp:revision>
  <dcterms:created xsi:type="dcterms:W3CDTF">2026-05-12T18:21:04Z</dcterms:created>
  <dcterms:modified xsi:type="dcterms:W3CDTF">2026-05-13T09:28:47Z</dcterms:modified>
</cp:coreProperties>
</file>